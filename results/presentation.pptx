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32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</a:rPr>
              <a:t>Next-Chord Prediction via
Heterogeneous Graph Neural Networks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38328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CCCCCC"/>
                </a:solidFill>
              </a:rPr>
              <a:t>McGill Billboard Dataset  ·  CES 941: Machine Learning on Graphs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93192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CCCCCC"/>
                </a:solidFill>
              </a:rPr>
              <a:t>April 14 / 16,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66560"/>
            <a:ext cx="12188952" cy="36576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4CAF50"/>
                </a:solidFill>
              </a:rPr>
              <a:t>Music Theory Primer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04672"/>
            <a:ext cx="11247120" cy="36576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841248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CCCCC"/>
                </a:solidFill>
              </a:rPr>
              <a:t>Everything you need to follow this talk — no prior music knowledge required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6187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D700"/>
                </a:solidFill>
              </a:rPr>
              <a:t>The 12 Notes  (one octave)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27632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C   C♯/D♭   D   D♯/E♭   E   F   F♯/G♭   G   G♯/A♭   A   A♯/B♭   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29968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• 12 equally-spaced pitches; the pattern repeats every octave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95728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• A semitone = one piano-key step (the smallest interval)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761488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• Sharp (♯) = one semitone up    Flat (♭) = one semitone down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127248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• C♯ and D♭ are the same pitch — "enharmonic equivalents"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493008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• After B the cycle restarts at C (one octave higher)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977639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D700"/>
                </a:solidFill>
              </a:rPr>
              <a:t>Key Concepts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370832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• Chord — 3+ notes played simultaneously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736592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• Root note — the base pitch that names the chord (e.g. C in "C major")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102352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• Chord progression — a sequence of chords unfolding over time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468112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• Chord occurrence (occ) — one instance of a chord at a specific beat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833872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• Section — a musical segment (verse, chorus, bridge, intro …)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0" y="1234440"/>
            <a:ext cx="22860" cy="52578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72200" y="1261872"/>
            <a:ext cx="5760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D700"/>
                </a:solidFill>
              </a:rPr>
              <a:t>Chord Types in This Dataset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72200" y="1627632"/>
            <a:ext cx="5760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CCCCCC"/>
                </a:solidFill>
              </a:rPr>
              <a:t>144 unique chord types  =  12 root notes  ×  ~12 quality variants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72200" y="1993392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CAF50"/>
                </a:solidFill>
              </a:rPr>
              <a:t>Name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1993392"/>
            <a:ext cx="1325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CAF50"/>
                </a:solidFill>
              </a:rPr>
              <a:t>Notes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1993392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CAF50"/>
                </a:solidFill>
              </a:rPr>
              <a:t>Sound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72200" y="2304288"/>
            <a:ext cx="5760720" cy="36576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72200" y="2350008"/>
            <a:ext cx="2011680" cy="3135477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Major          (C)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2350008"/>
            <a:ext cx="1325880" cy="3135477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C – E – 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0" y="2350008"/>
            <a:ext cx="2286000" cy="3135477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bright, stable — the "happy" default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72200" y="2692908"/>
            <a:ext cx="2011680" cy="3135477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Minor          (Cm)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2692908"/>
            <a:ext cx="1325880" cy="3135477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C – E♭ – 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0" y="2692908"/>
            <a:ext cx="2286000" cy="3135477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darker, "sadder" feel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72200" y="3035808"/>
            <a:ext cx="2011680" cy="3135477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Dominant 7th   (C7)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0" y="3035808"/>
            <a:ext cx="1325880" cy="3135477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C – E – G – B♭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01200" y="3035808"/>
            <a:ext cx="2286000" cy="3135477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bluesy tension, wants to resolve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72200" y="3378708"/>
            <a:ext cx="2011680" cy="3135477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Major 7th      (Cmaj7)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0" y="3378708"/>
            <a:ext cx="1325880" cy="3135477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C – E – G – B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01200" y="3378708"/>
            <a:ext cx="2286000" cy="3135477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smooth, jazzy, open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72200" y="3721608"/>
            <a:ext cx="2011680" cy="3135477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Minor 7th      (Cm7)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0" y="3721608"/>
            <a:ext cx="1325880" cy="3135477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C – E♭ – G – B♭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01200" y="3721608"/>
            <a:ext cx="2286000" cy="3135477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mellow, soulful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172200" y="4064508"/>
            <a:ext cx="2011680" cy="3135477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Diminished     (Cdim)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29600" y="4064508"/>
            <a:ext cx="1325880" cy="3135477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C – E♭ – G♭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01200" y="4064508"/>
            <a:ext cx="2286000" cy="3135477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tense, unstable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172200" y="4407408"/>
            <a:ext cx="2011680" cy="3135477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Augmented      (Caug)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29600" y="4407408"/>
            <a:ext cx="1325880" cy="3135477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C – E – G♯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601200" y="4407408"/>
            <a:ext cx="2286000" cy="3135477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dreamy, unresolved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172200" y="4750308"/>
            <a:ext cx="2011680" cy="3135477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Suspended 4th  (Csus4)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29600" y="4750308"/>
            <a:ext cx="1325880" cy="3135477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C – F – G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601200" y="4750308"/>
            <a:ext cx="2286000" cy="3135477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open, no major/minor quality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172200" y="5093208"/>
            <a:ext cx="2011680" cy="3135477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Suspended 2nd  (Csus2)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229600" y="5093208"/>
            <a:ext cx="1325880" cy="3135477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C – D – G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601200" y="5093208"/>
            <a:ext cx="2286000" cy="3135477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airy, spacious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172200" y="5436108"/>
            <a:ext cx="2011680" cy="3135477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Power chord    (C5)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229600" y="5436108"/>
            <a:ext cx="1325880" cy="3135477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C – G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601200" y="5436108"/>
            <a:ext cx="2286000" cy="3135477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root + 5th only; raw rock sound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172200" y="5779008"/>
            <a:ext cx="2011680" cy="3135477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Add9           (Cadd9)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229600" y="5779008"/>
            <a:ext cx="1325880" cy="3135477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C – E – G – D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601200" y="5779008"/>
            <a:ext cx="2286000" cy="3135477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colour tone added above the triad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172200" y="6121908"/>
            <a:ext cx="2011680" cy="3135477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No-chord       (N)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229600" y="6121908"/>
            <a:ext cx="1325880" cy="3135477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—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601200" y="6121908"/>
            <a:ext cx="2286000" cy="3135477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silence or unidentifiable harmony</a:t>
            </a:r>
          </a:p>
        </p:txBody>
      </p:sp>
      <p:sp>
        <p:nvSpPr>
          <p:cNvPr id="62" name="Rectangle 61"/>
          <p:cNvSpPr/>
          <p:nvPr/>
        </p:nvSpPr>
        <p:spPr>
          <a:xfrm>
            <a:off x="0" y="6766560"/>
            <a:ext cx="12188952" cy="36576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4CAF50"/>
                </a:solidFill>
              </a:rPr>
              <a:t>Chord Progressions You Already Know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04672"/>
            <a:ext cx="11247120" cy="36576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841248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CCCCC"/>
                </a:solidFill>
              </a:rPr>
              <a:t>Each box is one chord — the dataset encodes exactly these kinds of sequences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61872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Bohemian Rhapsody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09344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Queen  ·  B♭ major  ·  Rock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83664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FFD700"/>
                </a:solidFill>
              </a:rPr>
              <a:t>Verse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66160" y="1335024"/>
            <a:ext cx="1234440" cy="420624"/>
          </a:xfrm>
          <a:prstGeom prst="roundRect">
            <a:avLst>
              <a:gd name="adj" fmla="val 15000"/>
            </a:avLst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B♭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92040" y="1335024"/>
            <a:ext cx="1234440" cy="420624"/>
          </a:xfrm>
          <a:prstGeom prst="roundRect">
            <a:avLst>
              <a:gd name="adj" fmla="val 15000"/>
            </a:avLst>
          </a:prstGeom>
          <a:solidFill>
            <a:srgbClr val="6A3D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Gm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335024"/>
            <a:ext cx="1234440" cy="420624"/>
          </a:xfrm>
          <a:prstGeom prst="roundRect">
            <a:avLst>
              <a:gd name="adj" fmla="val 15000"/>
            </a:avLst>
          </a:prstGeom>
          <a:solidFill>
            <a:srgbClr val="6A3D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Cm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43800" y="1335024"/>
            <a:ext cx="1234440" cy="420624"/>
          </a:xfrm>
          <a:prstGeom prst="roundRect">
            <a:avLst>
              <a:gd name="adj" fmla="val 15000"/>
            </a:avLst>
          </a:prstGeom>
          <a:solidFill>
            <a:srgbClr val="FF7F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F7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322576"/>
            <a:ext cx="11430000" cy="36576"/>
          </a:xfrm>
          <a:prstGeom prst="rect">
            <a:avLst/>
          </a:prstGeom>
          <a:solidFill>
            <a:srgbClr val="33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377440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Piano Man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724912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Billy Joel  ·  C major  ·  Pop/Rock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2999232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FFD700"/>
                </a:solidFill>
              </a:rPr>
              <a:t>Chorus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566160" y="2450592"/>
            <a:ext cx="1234440" cy="420624"/>
          </a:xfrm>
          <a:prstGeom prst="roundRect">
            <a:avLst>
              <a:gd name="adj" fmla="val 15000"/>
            </a:avLst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892040" y="2450592"/>
            <a:ext cx="1234440" cy="420624"/>
          </a:xfrm>
          <a:prstGeom prst="roundRect">
            <a:avLst>
              <a:gd name="adj" fmla="val 15000"/>
            </a:avLst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F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2450592"/>
            <a:ext cx="1234440" cy="420624"/>
          </a:xfrm>
          <a:prstGeom prst="roundRect">
            <a:avLst>
              <a:gd name="adj" fmla="val 15000"/>
            </a:avLst>
          </a:prstGeom>
          <a:solidFill>
            <a:srgbClr val="6A3D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Am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43800" y="2450592"/>
            <a:ext cx="1234440" cy="420624"/>
          </a:xfrm>
          <a:prstGeom prst="roundRect">
            <a:avLst>
              <a:gd name="adj" fmla="val 15000"/>
            </a:avLst>
          </a:prstGeom>
          <a:solidFill>
            <a:srgbClr val="FF7F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G7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438144"/>
            <a:ext cx="11430000" cy="36576"/>
          </a:xfrm>
          <a:prstGeom prst="rect">
            <a:avLst/>
          </a:prstGeom>
          <a:solidFill>
            <a:srgbClr val="33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3493008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Africa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384048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Toto  ·  A major  ·  Pop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4114800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FFD700"/>
                </a:solidFill>
              </a:rPr>
              <a:t>Chorus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566160" y="3566160"/>
            <a:ext cx="1234440" cy="420624"/>
          </a:xfrm>
          <a:prstGeom prst="roundRect">
            <a:avLst>
              <a:gd name="adj" fmla="val 15000"/>
            </a:avLst>
          </a:prstGeom>
          <a:solidFill>
            <a:srgbClr val="6A3D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F♯m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892040" y="3566160"/>
            <a:ext cx="1234440" cy="420624"/>
          </a:xfrm>
          <a:prstGeom prst="roundRect">
            <a:avLst>
              <a:gd name="adj" fmla="val 15000"/>
            </a:avLst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17920" y="3566160"/>
            <a:ext cx="1234440" cy="420624"/>
          </a:xfrm>
          <a:prstGeom prst="roundRect">
            <a:avLst>
              <a:gd name="adj" fmla="val 15000"/>
            </a:avLst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543800" y="3566160"/>
            <a:ext cx="1234440" cy="420624"/>
          </a:xfrm>
          <a:prstGeom prst="roundRect">
            <a:avLst>
              <a:gd name="adj" fmla="val 15000"/>
            </a:avLst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4553712"/>
            <a:ext cx="11430000" cy="36576"/>
          </a:xfrm>
          <a:prstGeom prst="rect">
            <a:avLst/>
          </a:prstGeom>
          <a:solidFill>
            <a:srgbClr val="33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4608576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Lose Yourself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4956048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Eminem  ·  D minor  ·  Hip-hop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5230368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FFD700"/>
                </a:solidFill>
              </a:rPr>
              <a:t>Main riff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566160" y="4681728"/>
            <a:ext cx="1234440" cy="420624"/>
          </a:xfrm>
          <a:prstGeom prst="roundRect">
            <a:avLst>
              <a:gd name="adj" fmla="val 15000"/>
            </a:avLst>
          </a:prstGeom>
          <a:solidFill>
            <a:srgbClr val="6A3D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Dm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892040" y="4681728"/>
            <a:ext cx="1234440" cy="420624"/>
          </a:xfrm>
          <a:prstGeom prst="roundRect">
            <a:avLst>
              <a:gd name="adj" fmla="val 15000"/>
            </a:avLst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B♭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17920" y="4681728"/>
            <a:ext cx="1234440" cy="420624"/>
          </a:xfrm>
          <a:prstGeom prst="roundRect">
            <a:avLst>
              <a:gd name="adj" fmla="val 15000"/>
            </a:avLst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543800" y="4681728"/>
            <a:ext cx="1234440" cy="420624"/>
          </a:xfrm>
          <a:prstGeom prst="roundRect">
            <a:avLst>
              <a:gd name="adj" fmla="val 15000"/>
            </a:avLst>
          </a:prstGeom>
          <a:solidFill>
            <a:srgbClr val="FF7F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A7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" y="5669280"/>
            <a:ext cx="11430000" cy="36576"/>
          </a:xfrm>
          <a:prstGeom prst="rect">
            <a:avLst/>
          </a:prstGeom>
          <a:solidFill>
            <a:srgbClr val="33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" y="5724144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Something in the Orange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6071616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Zach Bryan  ·  G major  ·  Country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6345936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FFD700"/>
                </a:solidFill>
              </a:rPr>
              <a:t>Verse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566160" y="5797296"/>
            <a:ext cx="1234440" cy="420624"/>
          </a:xfrm>
          <a:prstGeom prst="roundRect">
            <a:avLst>
              <a:gd name="adj" fmla="val 15000"/>
            </a:avLst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G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892040" y="5797296"/>
            <a:ext cx="1234440" cy="420624"/>
          </a:xfrm>
          <a:prstGeom prst="roundRect">
            <a:avLst>
              <a:gd name="adj" fmla="val 15000"/>
            </a:avLst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D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217920" y="5797296"/>
            <a:ext cx="1234440" cy="420624"/>
          </a:xfrm>
          <a:prstGeom prst="roundRect">
            <a:avLst>
              <a:gd name="adj" fmla="val 15000"/>
            </a:avLst>
          </a:prstGeom>
          <a:solidFill>
            <a:srgbClr val="6A3D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Em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543800" y="5797296"/>
            <a:ext cx="1234440" cy="420624"/>
          </a:xfrm>
          <a:prstGeom prst="roundRect">
            <a:avLst>
              <a:gd name="adj" fmla="val 15000"/>
            </a:avLst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73952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Chord quality: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645920" y="6473952"/>
            <a:ext cx="1005840" cy="292608"/>
          </a:xfrm>
          <a:prstGeom prst="roundRect">
            <a:avLst>
              <a:gd name="adj" fmla="val 15000"/>
            </a:avLst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Major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2697480" y="6473952"/>
            <a:ext cx="1005840" cy="292608"/>
          </a:xfrm>
          <a:prstGeom prst="roundRect">
            <a:avLst>
              <a:gd name="adj" fmla="val 15000"/>
            </a:avLst>
          </a:prstGeom>
          <a:solidFill>
            <a:srgbClr val="6A3D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Minor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749040" y="6473952"/>
            <a:ext cx="1005840" cy="292608"/>
          </a:xfrm>
          <a:prstGeom prst="roundRect">
            <a:avLst>
              <a:gd name="adj" fmla="val 15000"/>
            </a:avLst>
          </a:prstGeom>
          <a:solidFill>
            <a:srgbClr val="FF7F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Dom 7th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800600" y="6473952"/>
            <a:ext cx="1005840" cy="292608"/>
          </a:xfrm>
          <a:prstGeom prst="roundRect">
            <a:avLst>
              <a:gd name="adj" fmla="val 15000"/>
            </a:avLst>
          </a:prstGeom>
          <a:solidFill>
            <a:srgbClr val="2CA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Major 7th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852160" y="6473952"/>
            <a:ext cx="1005840" cy="292608"/>
          </a:xfrm>
          <a:prstGeom prst="roundRect">
            <a:avLst>
              <a:gd name="adj" fmla="val 15000"/>
            </a:avLst>
          </a:prstGeom>
          <a:solidFill>
            <a:srgbClr val="17BE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Suspended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903720" y="6473952"/>
            <a:ext cx="1005840" cy="292608"/>
          </a:xfrm>
          <a:prstGeom prst="roundRect">
            <a:avLst>
              <a:gd name="adj" fmla="val 15000"/>
            </a:avLst>
          </a:prstGeom>
          <a:solidFill>
            <a:srgbClr val="D62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Diminished</a:t>
            </a:r>
          </a:p>
        </p:txBody>
      </p:sp>
      <p:sp>
        <p:nvSpPr>
          <p:cNvPr id="52" name="Rectangle 51"/>
          <p:cNvSpPr/>
          <p:nvPr/>
        </p:nvSpPr>
        <p:spPr>
          <a:xfrm>
            <a:off x="0" y="6766560"/>
            <a:ext cx="12188952" cy="36576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4CAF50"/>
                </a:solidFill>
              </a:rPr>
              <a:t>Problem &amp; Dataset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04672"/>
            <a:ext cx="11247120" cy="36576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FFFFFF"/>
                </a:solidFill>
              </a:rPr>
              <a:t>  • Task: given the current chord occurrence, predict the next chord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35608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FFFFFF"/>
                </a:solidFill>
              </a:rPr>
              <a:t>  • McGill Billboard corpus: 890 pop/rock songs (~100K chord occurrences)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11096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FFFFFF"/>
                </a:solidFill>
              </a:rPr>
              <a:t>  • 144 unique chord types + N (no-chord) = 145-class prediction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386584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FFFFFF"/>
                </a:solidFill>
              </a:rPr>
              <a:t>  • Why graph?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862072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CCCCCC"/>
                </a:solidFill>
              </a:rPr>
              <a:t>      – Chord progressions have rich hierarchical structure: occurrence → section → song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24612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CCCCCC"/>
                </a:solidFill>
              </a:rPr>
              <a:t>      – Flat sequence models discard this structure entirely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630168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CCCCCC"/>
                </a:solidFill>
              </a:rPr>
              <a:t>      – A heterogeneous graph can model all relationships simultaneously</a:t>
            </a:r>
          </a:p>
        </p:txBody>
      </p:sp>
      <p:pic>
        <p:nvPicPr>
          <p:cNvPr id="12" name="Picture 11" descr="genre_chord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914400"/>
            <a:ext cx="5394960" cy="281308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57200" y="649224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CCCCCC"/>
                </a:solidFill>
              </a:rPr>
              <a:t>Genre distribution: rock 52%, pop 19%, soul/R&amp;B 7%, country 4%, other 18%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766560"/>
            <a:ext cx="12188952" cy="36576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4CAF50"/>
                </a:solidFill>
              </a:rPr>
              <a:t>Graph Construction — Schema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04672"/>
            <a:ext cx="11247120" cy="36576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graph_sche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633" y="886968"/>
            <a:ext cx="10073686" cy="56692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9224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CCCCCC"/>
                </a:solidFill>
              </a:rPr>
              <a:t>5 node types · 10 directed edge types · all edges are within a single song graph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66560"/>
            <a:ext cx="12188952" cy="36576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4CAF50"/>
                </a:solidFill>
              </a:rPr>
              <a:t>Graph Construction — Real Song Example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04672"/>
            <a:ext cx="11247120" cy="36576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graph_ins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036" y="886968"/>
            <a:ext cx="11272879" cy="56692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9224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CCCCCC"/>
                </a:solidFill>
              </a:rPr>
              <a:t>occ nodes form a timeline; chord nodes are shared within the song; note/scale_deg nodes are global music-theory anchors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66560"/>
            <a:ext cx="12188952" cy="36576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4CAF50"/>
                </a:solidFill>
              </a:rPr>
              <a:t>Sequence Baselines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04672"/>
            <a:ext cx="11247120" cy="36576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FFFFFF"/>
                </a:solidFill>
              </a:rPr>
              <a:t>  • Markov (bigram + section-conditioned):  23.5% top-1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35608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FFFFFF"/>
                </a:solidFill>
              </a:rPr>
              <a:t>  • LSTM (2-layer, hidden=256):  45.2% top-1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11096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FFFFFF"/>
                </a:solidFill>
              </a:rPr>
              <a:t>  • Transformer (3-layer causal, embed=128):  52.2% top-1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569464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FFFFFF"/>
                </a:solidFill>
              </a:rPr>
              <a:t>  • Transformer beats LSTM by +7pp — attention helps on chord sequences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044952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FFFFFF"/>
                </a:solidFill>
              </a:rPr>
              <a:t>  • Both still far behind our GNN — the graph adds something real</a:t>
            </a:r>
          </a:p>
        </p:txBody>
      </p:sp>
      <p:pic>
        <p:nvPicPr>
          <p:cNvPr id="10" name="Picture 9" descr="model_comparison_f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914400"/>
            <a:ext cx="6217920" cy="27906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649224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CCCCCC"/>
                </a:solidFill>
              </a:rPr>
              <a:t>All models trained on same 623/133/134 train/val/test split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766560"/>
            <a:ext cx="12188952" cy="36576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4CAF50"/>
                </a:solidFill>
              </a:rPr>
              <a:t>The GNN Gets 99.8% — Something Is Wrong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04672"/>
            <a:ext cx="11247120" cy="36576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FFFFFF"/>
                </a:solidFill>
              </a:rPr>
              <a:t>  • Initial full GNN (with prev edges): 99.8% top-1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35608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FFFFFF"/>
                </a:solidFill>
              </a:rPr>
              <a:t>  • LSTM: 45.2%.  Markov: 23.5%.  This gap is suspicious.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93976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FFFFFF"/>
                </a:solidFill>
              </a:rPr>
              <a:t>  • Root cause: the prev edge creates a 2-hop leakage path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569464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CCCCCC"/>
                </a:solidFill>
              </a:rPr>
              <a:t>      – Layer 1:  chord[i+1] →(inst_rev)→ occ[i+1]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953512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CCCCCC"/>
                </a:solidFill>
              </a:rPr>
              <a:t>      – chord identity flows into occ[i+1] embedding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337560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CCCCCC"/>
                </a:solidFill>
              </a:rPr>
              <a:t>      – Layer 2:  occ[i+1] →(prev)→ occ[i]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721608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CCCCCC"/>
                </a:solidFill>
              </a:rPr>
              <a:t>      – future chord identity reaches the node we are predicting from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288536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FFFFFF"/>
                </a:solidFill>
              </a:rPr>
              <a:t>  • Ablation confirms it: remove instance_of → accuracy collapses to 7.5%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764024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CCCCCC"/>
                </a:solidFill>
              </a:rPr>
              <a:t>      – Without chord identity in occ embeddings, the leak carries nothing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9224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CCCCCC"/>
                </a:solidFill>
              </a:rPr>
              <a:t>prev edge was added to allow bidirectional context — it accidentally enabled data leakage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766560"/>
            <a:ext cx="12188952" cy="36576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4CAF50"/>
                </a:solidFill>
              </a:rPr>
              <a:t>Fix: Causal Model (No prev Edges)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04672"/>
            <a:ext cx="11247120" cy="36576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FFFFFF"/>
                </a:solidFill>
              </a:rPr>
              <a:t>  • Remove prev edges entirely → no future information can flow back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35608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FFFFFF"/>
                </a:solidFill>
              </a:rPr>
              <a:t>  • Inject current chord features directly into occ input vector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11096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CCCCCC"/>
                </a:solidFill>
              </a:rPr>
              <a:t>      – occ input: [timing(19-d) | chord_features(25-d)] = 44-d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295144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CCCCCC"/>
                </a:solidFill>
              </a:rPr>
              <a:t>      – This gives the model the present chord without leaking the future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79192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FFFFFF"/>
                </a:solidFill>
              </a:rPr>
              <a:t>  • 3 SAGEConv layers, hidden_dim=128, dropout=0.3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33756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FFFFFF"/>
                </a:solidFill>
              </a:rPr>
              <a:t>  • Result:  60.7% top-1  ·  89.0% top-5  ·  CE 1.44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813048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FFFFFF"/>
                </a:solidFill>
              </a:rPr>
              <a:t>  • Legitimate learning — beats Transformer by +8.5pp</a:t>
            </a:r>
          </a:p>
        </p:txBody>
      </p:sp>
      <p:pic>
        <p:nvPicPr>
          <p:cNvPr id="12" name="Picture 11" descr="causal_gnn_training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914400"/>
            <a:ext cx="5486400" cy="21945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57200" y="649224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CCCCCC"/>
                </a:solidFill>
              </a:rPr>
              <a:t>Checkpoint: results/causal_gnn_best.pt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766560"/>
            <a:ext cx="12188952" cy="36576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4CAF50"/>
                </a:solidFill>
              </a:rPr>
              <a:t>All Results — Test Set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04672"/>
            <a:ext cx="11247120" cy="36576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results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196" y="886968"/>
            <a:ext cx="11338560" cy="496858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9224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CCCCCC"/>
                </a:solidFill>
              </a:rPr>
              <a:t>Green = our models. Orange = graph baselines. Red = sequence baselines.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66560"/>
            <a:ext cx="12188952" cy="36576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4CAF50"/>
                </a:solidFill>
              </a:rPr>
              <a:t>Incremental Gain from Each Design Decision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04672"/>
            <a:ext cx="11247120" cy="36576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design_lad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196" y="886968"/>
            <a:ext cx="11338560" cy="38940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9224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CCCCCC"/>
                </a:solidFill>
              </a:rPr>
              <a:t>+37.2pp total gain from Markov → Het. GNN.  Each architectural choice contributes.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66560"/>
            <a:ext cx="12188952" cy="36576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4CAF50"/>
                </a:solidFill>
              </a:rPr>
              <a:t>Ablation: What Actually Matters?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04672"/>
            <a:ext cx="11247120" cy="36576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5760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FFFFFF"/>
                </a:solidFill>
              </a:rPr>
              <a:t>  • Remove seq edges (next/prev):  25.4%  — sequencing is essential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35608"/>
            <a:ext cx="5760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FFFFFF"/>
                </a:solidFill>
              </a:rPr>
              <a:t>  • Remove instance_of:  7.5%  — chord identity is the dominant signal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93976"/>
            <a:ext cx="5760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FFFFFF"/>
                </a:solidFill>
              </a:rPr>
              <a:t>  • Homo GNN vs Het. GNN (key comparison):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569464"/>
            <a:ext cx="5760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CCCCCC"/>
                </a:solidFill>
              </a:rPr>
              <a:t>      – Homo GNN (flat conv, all edges same type):  55.7%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953512"/>
            <a:ext cx="5760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CCCCCC"/>
                </a:solidFill>
              </a:rPr>
              <a:t>      – Het. GNN v2 (type-specialised SAGEConv):  60.7%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337560"/>
            <a:ext cx="5760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CCCCCC"/>
                </a:solidFill>
              </a:rPr>
              <a:t>      – +5pp from heterogeneous type specialisation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904488"/>
            <a:ext cx="5760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FFFFFF"/>
                </a:solidFill>
              </a:rPr>
              <a:t>  • HGT (Hu et al. 2020) vs Het. GNN: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379976"/>
            <a:ext cx="5760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CCCCCC"/>
                </a:solidFill>
              </a:rPr>
              <a:t>      – HGT:  55.5%  ≈  HomoGNN:  55.7%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764024"/>
            <a:ext cx="5760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CCCCCC"/>
                </a:solidFill>
              </a:rPr>
              <a:t>      – Graph structure matters more than the attention mechanism</a:t>
            </a:r>
          </a:p>
        </p:txBody>
      </p:sp>
      <p:pic>
        <p:nvPicPr>
          <p:cNvPr id="14" name="Picture 13" descr="ablation_f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914400"/>
            <a:ext cx="5577840" cy="2748904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0" y="6766560"/>
            <a:ext cx="12188952" cy="36576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4CAF50"/>
                </a:solidFill>
              </a:rPr>
              <a:t>GAT Attention — What Does the Model Focus On?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04672"/>
            <a:ext cx="11247120" cy="36576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5669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FFFFFF"/>
                </a:solidFill>
              </a:rPr>
              <a:t>  • GAT (4 heads) replaces SAGEConv — learns per-edge attention weights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35608"/>
            <a:ext cx="5669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FFFFFF"/>
                </a:solidFill>
              </a:rPr>
              <a:t>  • Attention is normalised per destination node across all incoming edge types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93976"/>
            <a:ext cx="5669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FFFFFF"/>
                </a:solidFill>
              </a:rPr>
              <a:t>  • inst_rev (chord → occ):  ≈ 1.0  — chord identity is the dominant signal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569464"/>
            <a:ext cx="5669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FFFFFF"/>
                </a:solidFill>
              </a:rPr>
              <a:t>  • next (prev occ → occ):   ≈ 1.0  — sequential context equally important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044952"/>
            <a:ext cx="5669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FFFFFF"/>
                </a:solidFill>
              </a:rPr>
              <a:t>  • next_section:            ≈ 1.0  — section transitions also attended 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520440"/>
            <a:ext cx="5669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FFFFFF"/>
                </a:solidFill>
              </a:rPr>
              <a:t>  • in_section (occ → sec):  ≈ 0.13 — section context used but secondary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995928"/>
            <a:ext cx="5669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FFFFFF"/>
                </a:solidFill>
              </a:rPr>
              <a:t>  • instance_of:             ≈ 0.13 — low weight (inst_rev carries same info)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654296"/>
            <a:ext cx="5669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FFFFFF"/>
                </a:solidFill>
              </a:rPr>
              <a:t>  • GAT top-1: 60.3%  vs  SAGEConv: 60.7% — marginal difference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129784"/>
            <a:ext cx="5669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CCCCCC"/>
                </a:solidFill>
              </a:rPr>
              <a:t>      – Attention learns meaningful weights but does not improve accuracy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513832"/>
            <a:ext cx="5669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CCCCCC"/>
                </a:solidFill>
              </a:rPr>
              <a:t>      – Confirms: graph structure matters more than weighting mechanism</a:t>
            </a:r>
          </a:p>
        </p:txBody>
      </p:sp>
      <p:pic>
        <p:nvPicPr>
          <p:cNvPr id="15" name="Picture 14" descr="gat_attention_by_re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914400"/>
            <a:ext cx="5669280" cy="226771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57200" y="649224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CCCCCC"/>
                </a:solidFill>
              </a:rPr>
              <a:t>Attention extracted from layer 0 across all edge types simultaneously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766560"/>
            <a:ext cx="12188952" cy="36576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4CAF50"/>
                </a:solidFill>
              </a:rPr>
              <a:t>Section-Level Accuracy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04672"/>
            <a:ext cx="11247120" cy="36576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FFFFFF"/>
                </a:solidFill>
              </a:rPr>
              <a:t>  • Instrumental / intro / outro:  73–74%  (repetitive, predictable)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35608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FFFFFF"/>
                </a:solidFill>
              </a:rPr>
              <a:t>  • Verse / chorus:  58–59%  (moderate harmonic variety)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11096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FFFFFF"/>
                </a:solidFill>
              </a:rPr>
              <a:t>  • Bridge:  51.7%  (most harmonically diverse — hardest to predict)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386584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FFFFFF"/>
                </a:solidFill>
              </a:rPr>
              <a:t>  • Trans / interlude / solo:  66–72%  (shorter, often formulaic)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044952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FFFFFF"/>
                </a:solidFill>
              </a:rPr>
              <a:t>  • Model captures musical structure: easier sections → higher accuracy</a:t>
            </a:r>
          </a:p>
        </p:txBody>
      </p:sp>
      <p:pic>
        <p:nvPicPr>
          <p:cNvPr id="10" name="Picture 9" descr="causal_gnn_section_accura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914400"/>
            <a:ext cx="5760720" cy="316626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649224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CCCCCC"/>
                </a:solidFill>
              </a:rPr>
              <a:t>Section type decoded from sec node features via one-hot argmax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766560"/>
            <a:ext cx="12188952" cy="36576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4CAF50"/>
                </a:solidFill>
              </a:rPr>
              <a:t>Genre Classification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04672"/>
            <a:ext cx="11247120" cy="36576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5760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FFFFFF"/>
                </a:solidFill>
              </a:rPr>
              <a:t>  • Transformer (linear probe, frozen):  23.9%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35608"/>
            <a:ext cx="5760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FFFFFF"/>
                </a:solidFill>
              </a:rPr>
              <a:t>  • Homo GNN (linear probe, frozen):  23.9%  — near-random baseline ≈ 18%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11096"/>
            <a:ext cx="5760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CCCCCC"/>
                </a:solidFill>
              </a:rPr>
              <a:t>      – → chord-prediction models do not spontaneously encode genre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478024"/>
            <a:ext cx="5760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FFFFFF"/>
                </a:solidFill>
              </a:rPr>
              <a:t>  • Het. GNN + genre head (joint training):  35.8%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953512"/>
            <a:ext cx="5760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CCCCCC"/>
                </a:solidFill>
              </a:rPr>
              <a:t>      – → genre supervision adds +12pp over probe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520440"/>
            <a:ext cx="5760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FFFFFF"/>
                </a:solidFill>
              </a:rPr>
              <a:t>  • HGT + genre head (hierarchical sec pooling):  50.7%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995928"/>
            <a:ext cx="5760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CCCCCC"/>
                </a:solidFill>
              </a:rPr>
              <a:t>      – → pooling over sections (not raw occ) gives richer song-level repr.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379976"/>
            <a:ext cx="5760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CCCCCC"/>
                </a:solidFill>
              </a:rPr>
              <a:t>      – → sec nodes absorb occ harmonic context through in_section edges</a:t>
            </a:r>
          </a:p>
        </p:txBody>
      </p:sp>
      <p:pic>
        <p:nvPicPr>
          <p:cNvPr id="13" name="Picture 12" descr="genre_probe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960120"/>
            <a:ext cx="5577840" cy="243573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57200" y="649224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CCCCCC"/>
                </a:solidFill>
              </a:rPr>
              <a:t>Genre accuracy: 9-class classification on 134 test songs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766560"/>
            <a:ext cx="12188952" cy="36576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4CAF50"/>
                </a:solidFill>
              </a:rPr>
              <a:t>Conclusion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04672"/>
            <a:ext cx="11247120" cy="36576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FFFFFF"/>
                </a:solidFill>
              </a:rPr>
              <a:t>  • Heterogeneous graph &gt; sequence models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35608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CCCCCC"/>
                </a:solidFill>
              </a:rPr>
              <a:t>      – 60.7% vs 52.2% Transformer  (+8.5pp)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19656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FFFFFF"/>
                </a:solidFill>
              </a:rPr>
              <a:t>  • Type specialisation matters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295144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CCCCCC"/>
                </a:solidFill>
              </a:rPr>
              <a:t>      – Het. GNN 60.7% vs Homo GNN 55.7%  (+5pp)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79192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FFFFFF"/>
                </a:solidFill>
              </a:rPr>
              <a:t>  • Graph structure &gt; attention mechanism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15468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CCCCCC"/>
                </a:solidFill>
              </a:rPr>
              <a:t>      – HGT 55.5% ≈ Homo GNN 55.7% — how you type edges beats how you weight them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538728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FFFFFF"/>
                </a:solidFill>
              </a:rPr>
              <a:t>  • Leakage is detectable and diagnosable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014216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CCCCCC"/>
                </a:solidFill>
              </a:rPr>
              <a:t>      – 99.8% → ablation → causal fix → 60.7% legitimate accuracy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398264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FFFFFF"/>
                </a:solidFill>
              </a:rPr>
              <a:t>  • Section structure enables genre understanding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873752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CCCCCC"/>
                </a:solidFill>
              </a:rPr>
              <a:t>      – Hierarchical sec pooling: 50.7% genre vs 23.9% probe baseline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44068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FFFFFF"/>
                </a:solidFill>
              </a:rPr>
              <a:t>  • Future work: contrastive learning for genre-separable embeddings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9224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CCCCCC"/>
                </a:solidFill>
              </a:rPr>
              <a:t>Code + results: github.com/[repo] | Checkpoints: results/*.pt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766560"/>
            <a:ext cx="12188952" cy="36576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